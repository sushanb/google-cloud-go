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368"/>
                </a:solidFill>
                <a:latin typeface="Google Sans"/>
              </a:rPr>
              <a:t>Bigtable Client + AI</a:t>
            </a:r>
          </a:p>
          <a:p>
            <a:pPr algn="r"/>
            <a:r>
              <a:rPr sz="1000">
                <a:solidFill>
                  <a:srgbClr val="5F6368"/>
                </a:solidFill>
                <a:latin typeface="Google Sans"/>
              </a:rPr>
              <a:t>Slide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22960"/>
            <a:ext cx="11094415" cy="0"/>
          </a:xfrm>
          <a:prstGeom prst="line">
            <a:avLst/>
          </a:prstGeom>
          <a:ln w="635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94415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Google Sans"/>
              </a:rPr>
              <a:t>One-shot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Why one-shot worked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09928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01368"/>
            <a:ext cx="11094415" cy="10058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3C4043"/>
                </a:solidFill>
                <a:latin typeface="Google Sans"/>
              </a:rPr>
              <a:t>• Prompting: detailed, no unknowns. 3–4 sentences of prompt.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Behavior: no behavior change. The interface was a pure extraction.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Common shape: extract the interface, then inject the logic.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1094415" cy="420624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38100" cy="420624"/>
          </a:xfrm>
          <a:prstGeom prst="rect">
            <a:avLst/>
          </a:prstGeom>
          <a:solidFill>
            <a:srgbClr val="D93025"/>
          </a:solidFill>
          <a:ln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8200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1E14"/>
                </a:solidFill>
                <a:latin typeface="Google Sans"/>
              </a:rPr>
              <a:t>Caution. "Decouple X from Y" — no fruitful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9544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PRs that shipped this way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502152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593592"/>
          <a:ext cx="11094414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9245345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PR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Change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#19987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Modularize DirectAccessChecker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#20027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Modularize ChannelPrimer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#20099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Client-side metrics decoupled from unary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368"/>
                </a:solidFill>
                <a:latin typeface="Google Sans"/>
              </a:rPr>
              <a:t>Bigtable Client + AI</a:t>
            </a:r>
          </a:p>
          <a:p>
            <a:pPr algn="r"/>
            <a:r>
              <a:rPr sz="1000">
                <a:solidFill>
                  <a:srgbClr val="5F6368"/>
                </a:solidFill>
                <a:latin typeface="Google Sans"/>
              </a:rPr>
              <a:t>Slide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22960"/>
            <a:ext cx="11094415" cy="0"/>
          </a:xfrm>
          <a:prstGeom prst="line">
            <a:avLst/>
          </a:prstGeom>
          <a:ln w="635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94415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Google Sans"/>
              </a:rPr>
              <a:t>Session Client is robust / thick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i="0">
                <a:solidFill>
                  <a:srgbClr val="5F6368"/>
                </a:solidFill>
                <a:latin typeface="Google Sans"/>
              </a:rPr>
              <a:t>Journey: One Shot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28216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i="0">
                <a:solidFill>
                  <a:srgbClr val="3C4043"/>
                </a:solidFill>
                <a:latin typeface="Google Sans"/>
              </a:rPr>
              <a:t>Session Client is an API change plus a family of new components that must land without any regression or user-visible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58568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One-shot Prompting FAILED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551176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642616"/>
            <a:ext cx="11094415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3C4043"/>
                </a:solidFill>
                <a:latin typeface="Google Sans"/>
              </a:rPr>
              <a:t>1. Session Client is &gt;&gt;&gt; an API change — ~30k lines of code, &gt;10 components/layers.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2. No shared axis. Every iteration devolves into "does this look right?"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55264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Fix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547872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639312"/>
            <a:ext cx="11094415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3C4043"/>
                </a:solidFill>
                <a:latin typeface="Google Sans"/>
              </a:rPr>
              <a:t>1. For each subcomponent, write the major non-negotiable spec — the rules that MUST hold.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2. Write an overall component spec defining ownership and flow.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3. PostToolUse hook on session-file edits auto-fires two reviewer subagents.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4. Reviewer subagents report PASS / VIOLATION / AMBIGUOUS per invariant.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5. Specs are a living doc — mutate with human in the loop.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965192"/>
          <a:ext cx="1109441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1109441"/>
                <a:gridCol w="6656649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Spec file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Inv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Governs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SESSION_SPEC.md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One Session's lifecycle.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SESSION_CLIENT_SPEC.md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SessionClient topology, shared channel pool, config.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SESSION_POOL_SPEC.md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Pools, AFE picker, Diverter+TableShim routing, scaling.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CLIENT_SIDE_METRICS_SPEC.md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Per-attempt metrics field provenance.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SESSION_COMPONENT_SPEC.md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Who owns what, what MUST NOT import what.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368"/>
                </a:solidFill>
                <a:latin typeface="Google Sans"/>
              </a:rPr>
              <a:t>Bigtable Client + AI</a:t>
            </a:r>
          </a:p>
          <a:p>
            <a:pPr algn="r"/>
            <a:r>
              <a:rPr sz="1000">
                <a:solidFill>
                  <a:srgbClr val="5F6368"/>
                </a:solidFill>
                <a:latin typeface="Google Sans"/>
              </a:rPr>
              <a:t>Slide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22960"/>
            <a:ext cx="11094415" cy="0"/>
          </a:xfrm>
          <a:prstGeom prst="line">
            <a:avLst/>
          </a:prstGeom>
          <a:ln w="635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94415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Google Sans"/>
              </a:rPr>
              <a:t>What a SPEC actually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i="0">
                <a:solidFill>
                  <a:srgbClr val="3C4043"/>
                </a:solidFill>
                <a:latin typeface="Google Sans"/>
              </a:rPr>
              <a:t>One invariant from SESSION_SPEC.md — the GOAWAY-handling rule (#6). Every invariant is a numbered order-of-operations the reviewer can walk step by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47672"/>
            <a:ext cx="11094415" cy="1591056"/>
          </a:xfrm>
          <a:prstGeom prst="rect">
            <a:avLst/>
          </a:prstGeom>
          <a:solidFill>
            <a:srgbClr val="F1F8F4"/>
          </a:solidFill>
          <a:ln>
            <a:solidFill>
              <a:srgbClr val="F1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47672"/>
            <a:ext cx="50800" cy="1591056"/>
          </a:xfrm>
          <a:prstGeom prst="rect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10820095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C4043"/>
                </a:solidFill>
                <a:latin typeface="Google Sans"/>
              </a:rPr>
              <a:t>#6 — GOAWAY does NOT cancel the in-flight vRPC</a:t>
            </a:r>
          </a:p>
          <a:p>
            <a:r>
              <a:rPr sz="1100">
                <a:solidFill>
                  <a:srgbClr val="3C4043"/>
                </a:solidFill>
                <a:latin typeface="Google Sans"/>
              </a:rPr>
              <a:t>1. If server sends GOAWAY before session finished starting up, treat as protocol oddity, record, ignore.</a:t>
            </a:r>
          </a:p>
          <a:p>
            <a:r>
              <a:rPr sz="1100">
                <a:solidFill>
                  <a:srgbClr val="3C4043"/>
                </a:solidFill>
                <a:latin typeface="Google Sans"/>
              </a:rPr>
              <a:t>2. Move session from ready to closing — only if not already terminal.</a:t>
            </a:r>
          </a:p>
          <a:p>
            <a:r>
              <a:rPr sz="1100">
                <a:solidFill>
                  <a:srgbClr val="3C4043"/>
                </a:solidFill>
                <a:latin typeface="Google Sans"/>
              </a:rPr>
              <a:t>3. Tell the pool immediately this session is going away.</a:t>
            </a:r>
          </a:p>
          <a:p>
            <a:r>
              <a:rPr sz="1100">
                <a:solidFill>
                  <a:srgbClr val="3C4043"/>
                </a:solidFill>
                <a:latin typeface="Google Sans"/>
              </a:rPr>
              <a:t>4. Lock in "GoAway" as close reason; later close classifications must not overwrite it.</a:t>
            </a:r>
          </a:p>
          <a:p>
            <a:r>
              <a:rPr sz="1100">
                <a:solidFill>
                  <a:srgbClr val="3C4043"/>
                </a:solidFill>
                <a:latin typeface="Google Sans"/>
              </a:rPr>
              <a:t>5. Do NOT cancel the in-flight request — if server delivers response before dropping, request succeeds.</a:t>
            </a:r>
          </a:p>
          <a:p>
            <a:r>
              <a:rPr sz="1100">
                <a:solidFill>
                  <a:srgbClr val="3C4043"/>
                </a:solidFill>
                <a:latin typeface="Google Sans"/>
              </a:rPr>
              <a:t>6. Kick off graceful shutdown from background task under bounded deadline.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75888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What makes this a useful spec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968496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4059936"/>
            <a:ext cx="11094415" cy="10058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3C4043"/>
                </a:solidFill>
                <a:latin typeface="Google Sans"/>
              </a:rPr>
              <a:t>• Java parity note names the file. When Go and Java differ, reviewer surfaces it and human decides.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Deprecation lives in the spec.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Subagent pipeline scales beyond "does this look right?"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368"/>
                </a:solidFill>
                <a:latin typeface="Google Sans"/>
              </a:rPr>
              <a:t>Bigtable Client + AI</a:t>
            </a:r>
          </a:p>
          <a:p>
            <a:pPr algn="r"/>
            <a:r>
              <a:rPr sz="1000">
                <a:solidFill>
                  <a:srgbClr val="5F6368"/>
                </a:solidFill>
                <a:latin typeface="Google Sans"/>
              </a:rPr>
              <a:t>Slide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22960"/>
            <a:ext cx="11094415" cy="0"/>
          </a:xfrm>
          <a:prstGeom prst="line">
            <a:avLst/>
          </a:prstGeom>
          <a:ln w="635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94415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Google Sans"/>
              </a:rPr>
              <a:t>Component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Problem → Fix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09928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801368"/>
            <a:ext cx="11094415" cy="10058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3C4043"/>
                </a:solidFill>
                <a:latin typeface="Google Sans"/>
              </a:rPr>
              <a:t>• Muddled components — logic was leaking.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Each change locally correct; aggregate a mess.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Fix: SESSION_COMPONENT_SPEC.md — descriptive map + prescriptive rules + ownership matrix.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Part A — Layer map (descriptive)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944368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035808"/>
          <a:ext cx="11094413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627"/>
                <a:gridCol w="2958510"/>
                <a:gridCol w="7396276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#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Layer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Location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Transport primitives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internal/transport/ — Stream, State, AttemptState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session*.go — Session, SessionHooks, afeID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Pool + Picker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session_pool*.go, afe_picker.go — SessionPoolImpl, sessionList, PoolSizer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Session client +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internal/session/ — SessionClient, SessionTableApi, lazyPool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Routing shim + diverter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table_shim.go, diverter.go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Public bigtable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bigtable/ — Client, Table, Mutation,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Observability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debugview/ — provider interfaces + 7 z-pages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513832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Part B — sample boundary MUST-rules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806440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897880"/>
            <a:ext cx="11094415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3C4043"/>
                </a:solidFill>
                <a:latin typeface="Google Sans"/>
              </a:rPr>
              <a:t>• B1: internal/session/ may NOT import public bigtable types (Row, Mutation, Filter).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B3: debugview/ may NOT import concrete pool/session types.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B4: Diverter MUST stay shape-agnostic (no per-method routing).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B6: Only ClientConfigurationManager calls SetSessionLoad / UpdateConfig.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B7: Session MUST NOT hold pool-level state (waiters, picker, sizer).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368"/>
                </a:solidFill>
                <a:latin typeface="Google Sans"/>
              </a:rPr>
              <a:t>Bigtable Client + AI</a:t>
            </a:r>
          </a:p>
          <a:p>
            <a:pPr algn="r"/>
            <a:r>
              <a:rPr sz="1000">
                <a:solidFill>
                  <a:srgbClr val="5F6368"/>
                </a:solidFill>
                <a:latin typeface="Google Sans"/>
              </a:rPr>
              <a:t>Slide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22960"/>
            <a:ext cx="11094415" cy="0"/>
          </a:xfrm>
          <a:prstGeom prst="line">
            <a:avLst/>
          </a:prstGeom>
          <a:ln w="635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94415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Google Sans"/>
              </a:rPr>
              <a:t>Prompt (Simple) — typed accessors for an atomic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i="0">
                <a:solidFill>
                  <a:srgbClr val="3C4043"/>
                </a:solidFill>
                <a:latin typeface="Google Sans"/>
              </a:rPr>
              <a:t>Simplest shape: pure passthrough refactor. No behavior change, one file, one reviewer pass.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28216"/>
            <a:ext cx="11094415" cy="969264"/>
          </a:xfrm>
          <a:prstGeom prst="rect">
            <a:avLst/>
          </a:prstGeom>
          <a:solidFill>
            <a:srgbClr val="F8F9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1082009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A73E8"/>
                </a:solidFill>
                <a:latin typeface="Google Sans"/>
              </a:rPr>
              <a:t>SMALL-TASK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02536"/>
            <a:ext cx="10820095" cy="6492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>
                <a:solidFill>
                  <a:srgbClr val="202124"/>
                </a:solidFill>
                <a:latin typeface="Roboto Mono"/>
              </a:rPr>
              <a:t>Add a getter and CAS wrapper for Session.activeRPC (atomic.Pointer[vrpcImpl]) so call sites don't reach the atomic directly. Route all 11 production .Load() and .CompareAndSwap() sites through the wrappers; leave test .Store() sites direct (fixture setup only).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Flow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127248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218688"/>
            <a:ext cx="11094415" cy="18287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3C4043"/>
                </a:solidFill>
                <a:latin typeface="Google Sans"/>
              </a:rPr>
              <a:t>1. Edit. Add LoadActiveVRPC() + CASActiveVRPC(old, new). Rewire 11 call sites via gopls rename.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2. PostToolUse fires — both reviewer subagents invoked in parallel.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3. session-reviewer confirms SESSION_SPEC.md #2 (one-in-flight vRPC via CAS) preserved bit-for-bit.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4. session-component-review confirms Part C row "In-flight vRPC slot" still names Session.activeRPC.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5. Smoke gate. go test -race -count=1 -short -timeout=90s ./internal/transport/ green.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6. Both PASS; ship.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368"/>
                </a:solidFill>
                <a:latin typeface="Google Sans"/>
              </a:rPr>
              <a:t>Bigtable Client + AI</a:t>
            </a:r>
          </a:p>
          <a:p>
            <a:pPr algn="r"/>
            <a:r>
              <a:rPr sz="1000">
                <a:solidFill>
                  <a:srgbClr val="5F6368"/>
                </a:solidFill>
                <a:latin typeface="Google Sans"/>
              </a:rPr>
              <a:t>Slide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22960"/>
            <a:ext cx="11094415" cy="0"/>
          </a:xfrm>
          <a:prstGeom prst="line">
            <a:avLst/>
          </a:prstGeom>
          <a:ln w="635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94415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Google Sans"/>
              </a:rPr>
              <a:t>Prompt (Medium) — adaptive session-creation throttler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i="0">
                <a:solidFill>
                  <a:srgbClr val="3C4043"/>
                </a:solidFill>
                <a:latin typeface="Google Sans"/>
              </a:rPr>
              <a:t>Multi-file change adding real behavior, spans 3–4 invariants, still one commit / one PR.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28216"/>
            <a:ext cx="11094415" cy="768096"/>
          </a:xfrm>
          <a:prstGeom prst="rect">
            <a:avLst/>
          </a:prstGeom>
          <a:solidFill>
            <a:srgbClr val="F8F9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1082009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A73E8"/>
                </a:solidFill>
                <a:latin typeface="Google Sans"/>
              </a:rPr>
              <a:t>MEDIUM-TASK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02536"/>
            <a:ext cx="10820095" cy="4480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>
                <a:solidFill>
                  <a:srgbClr val="202124"/>
                </a:solidFill>
                <a:latin typeface="Roboto Mono"/>
              </a:rPr>
              <a:t>Create an adaptive session-creation throttler based on three server-driven knobs from GetClientConfiguration: NewSessionCreationBudget, NewSessionCreationPenalty, ConsecutiveSessionFailureThreshold (circuit breaker).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Flow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926080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017520"/>
            <a:ext cx="11094415" cy="18287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3C4043"/>
                </a:solidFill>
                <a:latin typeface="Google Sans"/>
              </a:rPr>
              <a:t>1. Edit spans transport + session-client layers — both reviewers run in parallel.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2. session-reviewer: SESSION_POOL_SPEC.md #5 (scaling doesn't overwhelm control plane).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3. session-reviewer: SESSION_CLIENT_SPEC.md #3 (three knobs come from GetClientConfiguration).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4. session-component-review: B6 (throttler.UpdateConfig only from CCM), B7 (throttler on pool, not Session).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5. Race stress: -race -count=100 -run 'TestThrottler'.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6. PASS across invariant chain — future contributor cannot bypass budget from application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368"/>
                </a:solidFill>
                <a:latin typeface="Google Sans"/>
              </a:rPr>
              <a:t>Bigtable Client + AI</a:t>
            </a:r>
          </a:p>
          <a:p>
            <a:pPr algn="r"/>
            <a:r>
              <a:rPr sz="1000">
                <a:solidFill>
                  <a:srgbClr val="5F6368"/>
                </a:solidFill>
                <a:latin typeface="Google Sans"/>
              </a:rPr>
              <a:t>Slide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22960"/>
            <a:ext cx="11094415" cy="0"/>
          </a:xfrm>
          <a:prstGeom prst="line">
            <a:avLst/>
          </a:prstGeom>
          <a:ln w="635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94415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Google Sans"/>
              </a:rPr>
              <a:t>Prompt (Large) — tcpz: per-conn TCP_INFO debug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i="0">
                <a:solidFill>
                  <a:srgbClr val="3C4043"/>
                </a:solidFill>
                <a:latin typeface="Google Sans"/>
              </a:rPr>
              <a:t>Introduces a fourth kind of state (TCP-level), a Linux-only syscall on the read path, and a new first-class Handler arg.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47672"/>
            <a:ext cx="11094415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1082009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A73E8"/>
                </a:solidFill>
                <a:latin typeface="Google Sans"/>
              </a:rPr>
              <a:t>LARGE-TASK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21992"/>
            <a:ext cx="10820095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>
                <a:solidFill>
                  <a:srgbClr val="202124"/>
                </a:solidFill>
                <a:latin typeface="Roboto Mono"/>
              </a:rPr>
              <a:t>Add a tcpz debug page that exposes TCP_INFO stats for every connection tracked in the client's channel pool. Wire a custom dialer at Client construction to capture each net.Conn into a bigtable.TCPStats collector; view calls getsockopt(SOL_TCP, TCP_INFO) per socket on render. Must be nil-safe: debugview.Handler(client, nil) renders "collector not attached" on /tcpz/. Six incremental commits: page skeleton, retrans diagnostics, PMTU column, flow control, per-peer, refresh.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56432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Why the specs made this survivable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749040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840480"/>
            <a:ext cx="11094415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3C4043"/>
                </a:solidFill>
                <a:latin typeface="Google Sans"/>
              </a:rPr>
              <a:t>• COMPONENT B3: debugview accesses state ONLY via 3 provider interfaces — forced *TCPStats as a 4th Handler arg.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POOL #4: z-pages MUST NOT block hot-path — snapshot conn list under RLock, release, iterate + syscall outside.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COMPONENT B10: z-pages render, don't compute — "flag sub-1500 PMTU" lives on DTO producer, not template.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• Nil-safety contract across all 7 z-pages: debugview.Handler(client, nil) must not panic.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368"/>
                </a:solidFill>
                <a:latin typeface="Google Sans"/>
              </a:rPr>
              <a:t>Bigtable Client + AI</a:t>
            </a:r>
          </a:p>
          <a:p>
            <a:pPr algn="r"/>
            <a:r>
              <a:rPr sz="1000">
                <a:solidFill>
                  <a:srgbClr val="5F6368"/>
                </a:solidFill>
                <a:latin typeface="Google Sans"/>
              </a:rPr>
              <a:t>Slide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22960"/>
            <a:ext cx="11094415" cy="0"/>
          </a:xfrm>
          <a:prstGeom prst="line">
            <a:avLst/>
          </a:prstGeom>
          <a:ln w="635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94415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Google Sans"/>
              </a:rPr>
              <a:t>Prompt (Large) — A/B perf experiment: SynchronizationContext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i="0">
                <a:solidFill>
                  <a:srgbClr val="3C4043"/>
                </a:solidFill>
                <a:latin typeface="Google Sans"/>
              </a:rPr>
              <a:t>Different shape from tcpz: we don't know if the change is worth landing. The prompt has to produce the data to make that call, not the shipping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47672"/>
            <a:ext cx="11094415" cy="2779776"/>
          </a:xfrm>
          <a:prstGeom prst="rect">
            <a:avLst/>
          </a:prstGeom>
          <a:solidFill>
            <a:srgbClr val="F8F9FA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1082009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A73E8"/>
                </a:solidFill>
                <a:latin typeface="Google Sans"/>
              </a:rPr>
              <a:t>A/B-EXPERIMENT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21992"/>
            <a:ext cx="10820095" cy="24597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>
                <a:solidFill>
                  <a:srgbClr val="202124"/>
                </a:solidFill>
                <a:latin typeface="Roboto Mono"/>
              </a:rPr>
              <a:t>design doc for session synchronization context</a:t>
            </a:r>
          </a:p>
          <a:p>
            <a:r>
              <a:rPr sz="1000">
                <a:solidFill>
                  <a:srgbClr val="202124"/>
                </a:solidFill>
                <a:latin typeface="Roboto Mono"/>
              </a:rPr>
              <a:t> </a:t>
            </a:r>
          </a:p>
          <a:p>
            <a:r>
              <a:rPr sz="1000">
                <a:solidFill>
                  <a:srgbClr val="202124"/>
                </a:solidFill>
                <a:latin typeface="Roboto Mono"/>
              </a:rPr>
              <a:t>→ entered plan mode → produced ethereal-moseying-dragon.md, a two-phase brief.</a:t>
            </a:r>
          </a:p>
          <a:p>
            <a:r>
              <a:rPr sz="1000">
                <a:solidFill>
                  <a:srgbClr val="202124"/>
                </a:solidFill>
                <a:latin typeface="Roboto Mono"/>
              </a:rPr>
              <a:t> </a:t>
            </a:r>
          </a:p>
          <a:p>
            <a:r>
              <a:rPr sz="1000">
                <a:solidFill>
                  <a:srgbClr val="202124"/>
                </a:solidFill>
                <a:latin typeface="Roboto Mono"/>
              </a:rPr>
              <a:t>Phase 1 — Design doc at session-sync-context-design.md (10 sections, no TBDs).</a:t>
            </a:r>
          </a:p>
          <a:p>
            <a:r>
              <a:rPr sz="1000">
                <a:solidFill>
                  <a:srgbClr val="202124"/>
                </a:solidFill>
                <a:latin typeface="Roboto Mono"/>
              </a:rPr>
              <a:t>Phase 2 — POC on branch experiment/session-sync-context-poc. Migrate 2 sites: handleGoAway + Invoke state-check.</a:t>
            </a:r>
          </a:p>
          <a:p>
            <a:r>
              <a:rPr sz="1000">
                <a:solidFill>
                  <a:srgbClr val="202124"/>
                </a:solidFill>
                <a:latin typeface="Roboto Mono"/>
              </a:rPr>
              <a:t> </a:t>
            </a:r>
          </a:p>
          <a:p>
            <a:r>
              <a:rPr sz="1000">
                <a:solidFill>
                  <a:srgbClr val="202124"/>
                </a:solidFill>
                <a:latin typeface="Roboto Mono"/>
              </a:rPr>
              <a:t>A/B: go test -bench=BenchmarkInvokeMicro -benchmem -benchtime=3s -count=10</a:t>
            </a:r>
          </a:p>
          <a:p>
            <a:r>
              <a:rPr sz="1000">
                <a:solidFill>
                  <a:srgbClr val="202124"/>
                </a:solidFill>
                <a:latin typeface="Roboto Mono"/>
              </a:rPr>
              <a:t>benchstat /tmp/invokemicro-{old,new}.txt</a:t>
            </a:r>
          </a:p>
          <a:p>
            <a:r>
              <a:rPr sz="1000">
                <a:solidFill>
                  <a:srgbClr val="202124"/>
                </a:solidFill>
                <a:latin typeface="Roboto Mono"/>
              </a:rPr>
              <a:t> </a:t>
            </a:r>
          </a:p>
          <a:p>
            <a:r>
              <a:rPr sz="1000">
                <a:solidFill>
                  <a:srgbClr val="202124"/>
                </a:solidFill>
                <a:latin typeface="Roboto Mono"/>
              </a:rPr>
              <a:t>Decision: &lt;10% regression → proceed; 10–25% → tune; &gt;25% → abandon.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64608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Result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5157216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5248656"/>
          <a:ext cx="11094413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2465425"/>
                <a:gridCol w="2465425"/>
                <a:gridCol w="2465425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Benchmark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Baseline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POC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Delta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InvokeMicro/sequential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1.264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1.976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+56%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InvokeMicro/parallel-contended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203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1274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+528%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SyncCtxOverhead (isolated)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616 ns/op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2 goroutine hops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556248"/>
            <a:ext cx="11094415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 i="0">
                <a:solidFill>
                  <a:srgbClr val="3C4043"/>
                </a:solidFill>
                <a:latin typeface="Google Sans"/>
              </a:rPr>
              <a:t>Verdict: &gt;25% regression → abandon full migration. Land R2 SendVRpc + R1 CheckoutSession as small PRs. A/B saved a 3-week, 5-PR migration that would have made every Invoke 56% slower.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368"/>
                </a:solidFill>
                <a:latin typeface="Google Sans"/>
              </a:rPr>
              <a:t>Bigtable Client + AI</a:t>
            </a:r>
          </a:p>
          <a:p>
            <a:pPr algn="r"/>
            <a:r>
              <a:rPr sz="1000">
                <a:solidFill>
                  <a:srgbClr val="5F6368"/>
                </a:solidFill>
                <a:latin typeface="Google Sans"/>
              </a:rPr>
              <a:t>Slide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822960"/>
            <a:ext cx="11094415" cy="0"/>
          </a:xfrm>
          <a:prstGeom prst="line">
            <a:avLst/>
          </a:prstGeom>
          <a:ln w="635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094415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Google Sans"/>
              </a:rPr>
              <a:t>Workflow — Plan → Flush → Execute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10058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3C4043"/>
                </a:solidFill>
                <a:latin typeface="Google Sans"/>
              </a:rPr>
              <a:t>1. PLAN. Anything above simple prompt → enter plan mode. Model explores codebase, drafts written plan, asks for approval.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2. FLUSH. Human read of plan — usually where scope shrinks. "Do the 2-site POC, not the full migration" came from flushing.</a:t>
            </a:r>
          </a:p>
          <a:p>
            <a:r>
              <a:rPr sz="1200">
                <a:solidFill>
                  <a:srgbClr val="3C4043"/>
                </a:solidFill>
                <a:latin typeface="Google Sans"/>
              </a:rPr>
              <a:t>3. EXECUTE. Only after sign-off. Reviewer hooks + specs enforce executed diff matches approved shape.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1094415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202124"/>
                </a:solidFill>
                <a:latin typeface="Google Sans"/>
              </a:rPr>
              <a:t>Limitations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35808"/>
            <a:ext cx="11094415" cy="0"/>
          </a:xfrm>
          <a:prstGeom prst="line">
            <a:avLst/>
          </a:prstGeom>
          <a:ln w="12700">
            <a:solidFill>
              <a:srgbClr val="DA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127248"/>
          <a:ext cx="11094414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832"/>
                <a:gridCol w="7924582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Failure mode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Google Sans"/>
                        </a:rPr>
                        <a:t>What it looks like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1. Race conditions.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3+ atomics/locks in your head — model finds local fix but misses cross-resource invariant. R1's three variants and R2's two legs all in this bucket.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2. if/else fixes instead of scoped ones.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C4043"/>
                          </a:solidFill>
                          <a:latin typeface="Google Sans"/>
                        </a:rPr>
                        <a:t>Model reaches for smallest local branch at symptom site rather than following ownership matrix. Diverter grows if isSessionPath; z-page grows if collector != nil inline.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